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5CB0"/>
    <a:srgbClr val="3232EA"/>
    <a:srgbClr val="B9F1E6"/>
    <a:srgbClr val="FB6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1E142B-ABA5-4507-8BFE-106A2705552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6BABD5-ED3C-49C8-9983-CB3EBDCE48D2}" type="pres">
      <dgm:prSet presAssocID="{271E142B-ABA5-4507-8BFE-106A2705552C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85F5625F-034B-4CFF-A3A0-A50AAFD7CEF0}" type="presOf" srcId="{271E142B-ABA5-4507-8BFE-106A2705552C}" destId="{DC6BABD5-ED3C-49C8-9983-CB3EBDCE48D2}" srcOrd="0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DCFB3-FC15-42CA-8347-4170FD35A06B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DA826-1D22-4CBD-9CFA-135CC2F517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24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DA826-1D22-4CBD-9CFA-135CC2F5171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85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9024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879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35274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75600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2340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0788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5903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5462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8625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58908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45099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F32EF-ADA6-4038-BED1-2776090B3CE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3D32D-7CC8-4D12-BCAA-0E731B43B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4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5000">
              <a:srgbClr val="92D050"/>
            </a:gs>
            <a:gs pos="0">
              <a:srgbClr val="3232EA"/>
            </a:gs>
            <a:gs pos="6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  <a:prstGeom prst="roundRect">
            <a:avLst/>
          </a:prstGeom>
        </p:spPr>
        <p:txBody>
          <a:bodyPr/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TRAVEL AND TOURISM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0"/>
            <a:ext cx="6400800" cy="1752600"/>
          </a:xfrm>
        </p:spPr>
        <p:txBody>
          <a:bodyPr/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MANAGEMENT SYSTEM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Oval 3"/>
          <p:cNvSpPr/>
          <p:nvPr/>
        </p:nvSpPr>
        <p:spPr>
          <a:xfrm>
            <a:off x="5638800" y="4114800"/>
            <a:ext cx="3276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PRESENTED BY</a:t>
            </a:r>
          </a:p>
          <a:p>
            <a:pPr algn="ctr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Chandini Sanapala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97187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rgbClr val="CAC2D5"/>
            </a:gs>
            <a:gs pos="7000">
              <a:schemeClr val="accent6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  <a:solidFill>
            <a:srgbClr val="7030A0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Schema and Tables creation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  <a:solidFill>
            <a:schemeClr val="accent4">
              <a:lumMod val="60000"/>
              <a:lumOff val="40000"/>
            </a:schemeClr>
          </a:solidFill>
          <a:ln w="28575">
            <a:solidFill>
              <a:srgbClr val="7030A0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r>
              <a:rPr lang="en-US" sz="2000" dirty="0"/>
              <a:t>CREATE </a:t>
            </a:r>
            <a:r>
              <a:rPr lang="en-US" sz="2000" dirty="0" smtClean="0"/>
              <a:t>SCHEMA </a:t>
            </a:r>
            <a:r>
              <a:rPr lang="en-US" sz="2000" dirty="0" smtClean="0">
                <a:solidFill>
                  <a:srgbClr val="C00000"/>
                </a:solidFill>
              </a:rPr>
              <a:t>Travel_Tourism;</a:t>
            </a:r>
          </a:p>
          <a:p>
            <a:endParaRPr lang="en-US" sz="2000" dirty="0" smtClean="0">
              <a:solidFill>
                <a:srgbClr val="C00000"/>
              </a:solidFill>
            </a:endParaRPr>
          </a:p>
          <a:p>
            <a:r>
              <a:rPr lang="en-US" sz="2000" dirty="0" smtClean="0"/>
              <a:t>USE</a:t>
            </a:r>
            <a:r>
              <a:rPr lang="en-US" sz="2400" dirty="0" smtClean="0">
                <a:solidFill>
                  <a:srgbClr val="FF0000"/>
                </a:solidFill>
              </a:rPr>
              <a:t> Travel_Tourism;</a:t>
            </a:r>
          </a:p>
          <a:p>
            <a:pPr algn="ctr"/>
            <a:r>
              <a:rPr lang="en-US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TABLES CREATION</a:t>
            </a:r>
          </a:p>
          <a:p>
            <a:r>
              <a:rPr lang="en-US" sz="1600" dirty="0" smtClean="0"/>
              <a:t>CREATE </a:t>
            </a:r>
            <a:r>
              <a:rPr lang="en-US" sz="1600" dirty="0"/>
              <a:t>TABLE </a:t>
            </a:r>
            <a:r>
              <a:rPr lang="en-US" sz="1600" dirty="0">
                <a:solidFill>
                  <a:srgbClr val="7030A0"/>
                </a:solidFill>
              </a:rPr>
              <a:t>Tourists</a:t>
            </a:r>
            <a:r>
              <a:rPr lang="en-US" sz="1600" dirty="0"/>
              <a:t> (</a:t>
            </a:r>
          </a:p>
          <a:p>
            <a:r>
              <a:rPr lang="en-US" sz="1600" dirty="0"/>
              <a:t>  tourist_id INT PRIMARY KEY,</a:t>
            </a:r>
          </a:p>
          <a:p>
            <a:r>
              <a:rPr lang="en-US" sz="1600" dirty="0"/>
              <a:t>  name VARCHAR(50),</a:t>
            </a:r>
          </a:p>
          <a:p>
            <a:r>
              <a:rPr lang="en-US" sz="1600" dirty="0"/>
              <a:t>  country VARCHAR(50),</a:t>
            </a:r>
          </a:p>
          <a:p>
            <a:r>
              <a:rPr lang="en-US" sz="1600" dirty="0"/>
              <a:t>  age </a:t>
            </a:r>
            <a:r>
              <a:rPr lang="en-US" sz="1600" dirty="0" smtClean="0"/>
              <a:t>INT );</a:t>
            </a:r>
          </a:p>
          <a:p>
            <a:endParaRPr lang="en-US" sz="1200" dirty="0"/>
          </a:p>
          <a:p>
            <a:r>
              <a:rPr lang="en-US" sz="1600" dirty="0"/>
              <a:t>CREATE TABLE </a:t>
            </a:r>
            <a:r>
              <a:rPr lang="en-US" sz="1600" dirty="0">
                <a:solidFill>
                  <a:srgbClr val="7030A0"/>
                </a:solidFill>
              </a:rPr>
              <a:t>Destinations</a:t>
            </a:r>
            <a:r>
              <a:rPr lang="en-US" sz="1600" dirty="0"/>
              <a:t> (</a:t>
            </a:r>
          </a:p>
          <a:p>
            <a:r>
              <a:rPr lang="en-US" sz="1600" dirty="0"/>
              <a:t>  destination_id INT PRIMARY KEY,</a:t>
            </a:r>
          </a:p>
          <a:p>
            <a:r>
              <a:rPr lang="en-US" sz="1600" dirty="0"/>
              <a:t>  place_name VARCHAR(100),</a:t>
            </a:r>
          </a:p>
          <a:p>
            <a:r>
              <a:rPr lang="en-US" sz="1600" dirty="0"/>
              <a:t>  location VARCHAR(100),</a:t>
            </a:r>
          </a:p>
          <a:p>
            <a:r>
              <a:rPr lang="en-US" sz="1600" dirty="0"/>
              <a:t>  category VARCHAR(50</a:t>
            </a:r>
            <a:r>
              <a:rPr lang="en-US" sz="1600" dirty="0" smtClean="0"/>
              <a:t>)  );</a:t>
            </a:r>
            <a:endParaRPr lang="en-US" sz="1600" dirty="0"/>
          </a:p>
          <a:p>
            <a:endParaRPr lang="en-US" sz="1400" dirty="0"/>
          </a:p>
          <a:p>
            <a:endParaRPr lang="en-US" sz="1200" dirty="0"/>
          </a:p>
          <a:p>
            <a:endParaRPr lang="en-US" sz="2000" dirty="0"/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581400"/>
            <a:ext cx="2743200" cy="4953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294" y="5257800"/>
            <a:ext cx="3311106" cy="71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744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2000">
              <a:srgbClr val="CAC2D5"/>
            </a:gs>
            <a:gs pos="43000">
              <a:schemeClr val="accent4">
                <a:lumMod val="40000"/>
                <a:lumOff val="60000"/>
              </a:schemeClr>
            </a:gs>
            <a:gs pos="11000">
              <a:srgbClr val="92D050"/>
            </a:gs>
            <a:gs pos="100000">
              <a:schemeClr val="tx2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4826" y="65713"/>
            <a:ext cx="70017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</a:t>
            </a:r>
            <a:r>
              <a:rPr lang="en-US" sz="1200" dirty="0">
                <a:solidFill>
                  <a:srgbClr val="C00000"/>
                </a:solidFill>
              </a:rPr>
              <a:t>Bookings</a:t>
            </a:r>
            <a:r>
              <a:rPr lang="en-US" sz="1200" dirty="0"/>
              <a:t> (</a:t>
            </a:r>
          </a:p>
          <a:p>
            <a:r>
              <a:rPr lang="en-US" sz="1200" dirty="0"/>
              <a:t>  booking_id INT PRIMARY KEY</a:t>
            </a:r>
            <a:r>
              <a:rPr lang="en-US" sz="1200" dirty="0" smtClean="0"/>
              <a:t>,  </a:t>
            </a:r>
            <a:r>
              <a:rPr lang="en-US" sz="1200" dirty="0"/>
              <a:t>tourist_id INT,</a:t>
            </a:r>
          </a:p>
          <a:p>
            <a:r>
              <a:rPr lang="en-US" sz="1200" dirty="0"/>
              <a:t>  destination_id INT,</a:t>
            </a:r>
          </a:p>
          <a:p>
            <a:r>
              <a:rPr lang="en-US" sz="1200" dirty="0"/>
              <a:t>  booking_date DATE,</a:t>
            </a:r>
          </a:p>
          <a:p>
            <a:r>
              <a:rPr lang="en-US" sz="1200" dirty="0"/>
              <a:t>  cost DECIMAL(10,2),</a:t>
            </a:r>
          </a:p>
          <a:p>
            <a:r>
              <a:rPr lang="en-US" sz="1200" dirty="0"/>
              <a:t>  FOREIGN KEY (tourist_id) REFERENCES Tourists(tourist_id),</a:t>
            </a:r>
          </a:p>
          <a:p>
            <a:r>
              <a:rPr lang="en-US" sz="1200" dirty="0"/>
              <a:t>  FOREIGN KEY (destination_id) REFERENCES </a:t>
            </a:r>
            <a:r>
              <a:rPr lang="en-US" sz="1200" dirty="0" smtClean="0"/>
              <a:t> Destinations(destination_id) );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102754" y="1676400"/>
            <a:ext cx="71362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CREATE TABLE </a:t>
            </a:r>
            <a:r>
              <a:rPr lang="en-US" sz="1600" dirty="0">
                <a:solidFill>
                  <a:srgbClr val="C00000"/>
                </a:solidFill>
              </a:rPr>
              <a:t>Guides</a:t>
            </a:r>
            <a:r>
              <a:rPr lang="en-US" sz="1600" dirty="0"/>
              <a:t> (</a:t>
            </a:r>
          </a:p>
          <a:p>
            <a:r>
              <a:rPr lang="en-US" sz="1600" dirty="0"/>
              <a:t>  guide_id INT PRIMARY KEY,</a:t>
            </a:r>
          </a:p>
          <a:p>
            <a:r>
              <a:rPr lang="en-US" sz="1600" dirty="0"/>
              <a:t>  name VARCHAR(50),</a:t>
            </a:r>
          </a:p>
          <a:p>
            <a:r>
              <a:rPr lang="en-US" sz="1600" dirty="0"/>
              <a:t>  language VARCHAR(50),</a:t>
            </a:r>
          </a:p>
          <a:p>
            <a:r>
              <a:rPr lang="en-US" sz="1600" dirty="0"/>
              <a:t>  destination_id INT,</a:t>
            </a:r>
          </a:p>
          <a:p>
            <a:r>
              <a:rPr lang="en-US" sz="1600" dirty="0"/>
              <a:t>  FOREIGN KEY (destination_id) REFERENCES Destinations(destination_id</a:t>
            </a:r>
            <a:r>
              <a:rPr lang="en-US" sz="1600" dirty="0" smtClean="0"/>
              <a:t>) );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152400" y="3678338"/>
            <a:ext cx="4572000" cy="313932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dirty="0"/>
              <a:t>INSERT INTO Tourists VALUES</a:t>
            </a:r>
          </a:p>
          <a:p>
            <a:r>
              <a:rPr lang="en-US" dirty="0"/>
              <a:t>(1, 'Ravi Kumar', 'India', 28),</a:t>
            </a:r>
          </a:p>
          <a:p>
            <a:r>
              <a:rPr lang="en-US" dirty="0"/>
              <a:t>(2, 'Sneha Reddy', 'India', 25),</a:t>
            </a:r>
          </a:p>
          <a:p>
            <a:r>
              <a:rPr lang="en-US" dirty="0"/>
              <a:t>(3, 'John Smith', 'USA', 32),</a:t>
            </a:r>
          </a:p>
          <a:p>
            <a:r>
              <a:rPr lang="en-US" dirty="0"/>
              <a:t>(4, 'Maya Singh', 'UK', 30),</a:t>
            </a:r>
          </a:p>
          <a:p>
            <a:r>
              <a:rPr lang="en-US" dirty="0"/>
              <a:t>(5, 'Liam Johnson', 'USA', 27),</a:t>
            </a:r>
          </a:p>
          <a:p>
            <a:r>
              <a:rPr lang="en-US" dirty="0"/>
              <a:t>(6, 'Emma Brown', 'UK', 29),</a:t>
            </a:r>
          </a:p>
          <a:p>
            <a:r>
              <a:rPr lang="en-US" dirty="0"/>
              <a:t>(7, 'Arjun Patel', 'India', 35),</a:t>
            </a:r>
          </a:p>
          <a:p>
            <a:r>
              <a:rPr lang="en-US" dirty="0"/>
              <a:t>(8, 'Sophia Lee', 'Australia', 31),</a:t>
            </a:r>
          </a:p>
          <a:p>
            <a:r>
              <a:rPr lang="en-US" dirty="0"/>
              <a:t>(9, 'Daniel Wilson', 'Canada', 33),</a:t>
            </a:r>
          </a:p>
          <a:p>
            <a:r>
              <a:rPr lang="en-US" dirty="0"/>
              <a:t>(10, 'Ananya Sharma', 'India', 26);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229" y="4114800"/>
            <a:ext cx="3162741" cy="238158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609600"/>
            <a:ext cx="3705742" cy="4763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905000"/>
            <a:ext cx="3934341" cy="50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47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5000">
              <a:schemeClr val="accent3">
                <a:lumMod val="40000"/>
                <a:lumOff val="60000"/>
              </a:schemeClr>
            </a:gs>
            <a:gs pos="100000">
              <a:schemeClr val="accent6">
                <a:lumMod val="40000"/>
                <a:lumOff val="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76200"/>
            <a:ext cx="5562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INSERT INTO Destinations VALUES</a:t>
            </a:r>
          </a:p>
          <a:p>
            <a:r>
              <a:rPr lang="en-US" dirty="0"/>
              <a:t>(1, 'Goa Beach', 'Goa', 'Beach'),</a:t>
            </a:r>
          </a:p>
          <a:p>
            <a:r>
              <a:rPr lang="en-US" dirty="0"/>
              <a:t>(2, 'Ooty Hills', 'Tamil Nadu', 'Hill Station'),</a:t>
            </a:r>
          </a:p>
          <a:p>
            <a:r>
              <a:rPr lang="en-US" dirty="0"/>
              <a:t>(3, 'Jaipur Fort', 'Rajasthan', 'Historical'),</a:t>
            </a:r>
          </a:p>
          <a:p>
            <a:r>
              <a:rPr lang="en-US" dirty="0"/>
              <a:t>(4, 'Kerala Backwaters', 'Kerala', 'Nature'),</a:t>
            </a:r>
          </a:p>
          <a:p>
            <a:r>
              <a:rPr lang="en-US" dirty="0"/>
              <a:t>(5, 'Manali Hills', 'Himachal Pradesh', 'Hill Station'),</a:t>
            </a:r>
          </a:p>
          <a:p>
            <a:r>
              <a:rPr lang="en-US" dirty="0"/>
              <a:t>(6, 'Andaman Beach', 'Andaman', 'Beach'),</a:t>
            </a:r>
          </a:p>
          <a:p>
            <a:r>
              <a:rPr lang="en-US" dirty="0"/>
              <a:t>(7, 'Mysore Palace', 'Karnataka', 'Historical'),</a:t>
            </a:r>
          </a:p>
          <a:p>
            <a:r>
              <a:rPr lang="en-US" dirty="0"/>
              <a:t>(8, 'Sikkim Mountains', 'Sikkim', 'Hill Station'),</a:t>
            </a:r>
          </a:p>
          <a:p>
            <a:r>
              <a:rPr lang="en-US" dirty="0"/>
              <a:t>(9, 'Alleppey Lakes', 'Kerala', 'Nature'),</a:t>
            </a:r>
          </a:p>
          <a:p>
            <a:r>
              <a:rPr lang="en-US" dirty="0"/>
              <a:t>(10, 'Darjeeling Hills', 'West Bengal', 'Hill Station');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28600"/>
            <a:ext cx="3791479" cy="2819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35814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INSERT INTO Bookings VALUES</a:t>
            </a:r>
          </a:p>
          <a:p>
            <a:r>
              <a:rPr lang="en-US" dirty="0"/>
              <a:t>(101, 1, 1, '2024-05-12', 15000.00),</a:t>
            </a:r>
          </a:p>
          <a:p>
            <a:r>
              <a:rPr lang="en-US" dirty="0"/>
              <a:t>(102, 2, 2, '2024-06-20', 12000.00),</a:t>
            </a:r>
          </a:p>
          <a:p>
            <a:r>
              <a:rPr lang="en-US" dirty="0"/>
              <a:t>(103, 3, 3, '2024-07-15', 20000.00),</a:t>
            </a:r>
          </a:p>
          <a:p>
            <a:r>
              <a:rPr lang="en-US" dirty="0"/>
              <a:t>(104, 4, 4, '2024-08-10', 18000.00),</a:t>
            </a:r>
          </a:p>
          <a:p>
            <a:r>
              <a:rPr lang="en-US" dirty="0"/>
              <a:t>(105, 1, 2, '2024-09-25', 10000.00),</a:t>
            </a:r>
          </a:p>
          <a:p>
            <a:r>
              <a:rPr lang="en-US" dirty="0"/>
              <a:t>(106, 5, 5, '2024-10-05', 16000.00),</a:t>
            </a:r>
          </a:p>
          <a:p>
            <a:r>
              <a:rPr lang="en-US" dirty="0"/>
              <a:t>(107, 6, 6, '2024-10-12', 17000.00),</a:t>
            </a:r>
          </a:p>
          <a:p>
            <a:r>
              <a:rPr lang="en-US" dirty="0"/>
              <a:t>(108, 7, 7, '2024-10-18', 19000.00),</a:t>
            </a:r>
          </a:p>
          <a:p>
            <a:r>
              <a:rPr lang="en-US" dirty="0"/>
              <a:t>(109, 8, 8, '2024-10-20', 14000.00),</a:t>
            </a:r>
          </a:p>
          <a:p>
            <a:r>
              <a:rPr lang="en-US" dirty="0"/>
              <a:t>(110, 9, 9, '2024-10-22', 13000.00);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886200"/>
            <a:ext cx="385816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739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5">
                <a:lumMod val="60000"/>
                <a:lumOff val="4000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842" y="106739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INSERT INTO Guides VALUES</a:t>
            </a:r>
          </a:p>
          <a:p>
            <a:r>
              <a:rPr lang="en-US" dirty="0"/>
              <a:t>(201, 'Amit Verma', 'Hindi', 1),</a:t>
            </a:r>
          </a:p>
          <a:p>
            <a:r>
              <a:rPr lang="en-US" dirty="0"/>
              <a:t>(202, 'Priya Nair', 'English', 2),</a:t>
            </a:r>
          </a:p>
          <a:p>
            <a:r>
              <a:rPr lang="en-US" dirty="0"/>
              <a:t>(203, 'Rahul Das', 'Hindi', 3),</a:t>
            </a:r>
          </a:p>
          <a:p>
            <a:r>
              <a:rPr lang="en-US" dirty="0"/>
              <a:t>(204, 'Sarah Thomas', 'Malayalam', 4),</a:t>
            </a:r>
          </a:p>
          <a:p>
            <a:r>
              <a:rPr lang="en-US" dirty="0"/>
              <a:t>(205, 'Vikram Singh', 'Hindi', 5),</a:t>
            </a:r>
          </a:p>
          <a:p>
            <a:r>
              <a:rPr lang="en-US" dirty="0"/>
              <a:t>(206, 'Emily White', 'English', 6),</a:t>
            </a:r>
          </a:p>
          <a:p>
            <a:r>
              <a:rPr lang="en-US" dirty="0"/>
              <a:t>(207, 'Karan Mehta', 'Hindi', 7),</a:t>
            </a:r>
          </a:p>
          <a:p>
            <a:r>
              <a:rPr lang="en-US" dirty="0"/>
              <a:t>(208, 'Lily Adams', 'English', 8),</a:t>
            </a:r>
          </a:p>
          <a:p>
            <a:r>
              <a:rPr lang="en-US" dirty="0"/>
              <a:t>(209, 'Anil Kumar', 'Hindi', 9),</a:t>
            </a:r>
          </a:p>
          <a:p>
            <a:r>
              <a:rPr lang="en-US" dirty="0"/>
              <a:t>(210, 'Nina Patel', 'English', 10);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308" y="380999"/>
            <a:ext cx="4077184" cy="2590800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55312210"/>
              </p:ext>
            </p:extLst>
          </p:nvPr>
        </p:nvGraphicFramePr>
        <p:xfrm>
          <a:off x="1976718" y="3291721"/>
          <a:ext cx="49530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589363" y="3352800"/>
            <a:ext cx="4318958" cy="6858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Retrieving data by writing queries</a:t>
            </a:r>
            <a:endParaRPr lang="en-US" sz="2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3362" y="4191000"/>
            <a:ext cx="84596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Write a query to fetch tourist id,age and all tourists from india)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7200" y="4648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SELECT * FROM Tourists</a:t>
            </a:r>
          </a:p>
          <a:p>
            <a:r>
              <a:rPr lang="en-US" dirty="0"/>
              <a:t>WHERE country = 'India';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766" y="4596275"/>
            <a:ext cx="3115110" cy="222916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5638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WHERE filters only the rows where the country is India.</a:t>
            </a:r>
          </a:p>
        </p:txBody>
      </p:sp>
    </p:spTree>
    <p:extLst>
      <p:ext uri="{BB962C8B-B14F-4D97-AF65-F5344CB8AC3E}">
        <p14:creationId xmlns:p14="http://schemas.microsoft.com/office/powerpoint/2010/main" val="34064130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D9E5E8"/>
            </a:gs>
            <a:gs pos="55000">
              <a:schemeClr val="accent4">
                <a:lumMod val="40000"/>
                <a:lumOff val="6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76200"/>
            <a:ext cx="899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2</a:t>
            </a:r>
            <a:r>
              <a:rPr lang="en-US" b="1" dirty="0"/>
              <a:t>. write a query to fetch placename and category with destination id of all destinations </a:t>
            </a:r>
            <a:r>
              <a:rPr lang="en-US" b="1" dirty="0" smtClean="0"/>
              <a:t>                           located </a:t>
            </a:r>
            <a:r>
              <a:rPr lang="en-US" b="1" dirty="0"/>
              <a:t>in kerala</a:t>
            </a:r>
            <a:r>
              <a:rPr lang="en-US" b="1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838200"/>
            <a:ext cx="792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SELECT destination_id, place_name, category</a:t>
            </a:r>
          </a:p>
          <a:p>
            <a:r>
              <a:rPr lang="en-US" dirty="0"/>
              <a:t>FROM Destinations</a:t>
            </a:r>
          </a:p>
          <a:p>
            <a:r>
              <a:rPr lang="en-US" dirty="0"/>
              <a:t>WHERE location = 'Kerala';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87" r="25181" b="-2806"/>
          <a:stretch/>
        </p:blipFill>
        <p:spPr>
          <a:xfrm>
            <a:off x="5867400" y="722531"/>
            <a:ext cx="3014932" cy="13586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1219" y="1628303"/>
            <a:ext cx="84308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Explanation:</a:t>
            </a:r>
          </a:p>
          <a:p>
            <a:r>
              <a:rPr lang="en-US" dirty="0"/>
              <a:t>Filters rows by location = 'Kerala' to show only destinations in that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" y="2640954"/>
            <a:ext cx="876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3.write a query to show bookings where the cost is greater than </a:t>
            </a:r>
            <a:r>
              <a:rPr lang="en-US" b="1" dirty="0" smtClean="0"/>
              <a:t>15000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84" b="-37084"/>
          <a:stretch/>
        </p:blipFill>
        <p:spPr>
          <a:xfrm>
            <a:off x="5715000" y="3010286"/>
            <a:ext cx="3429000" cy="24761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8536" y="3001826"/>
            <a:ext cx="723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SELECT * FROM Bookings</a:t>
            </a:r>
          </a:p>
          <a:p>
            <a:r>
              <a:rPr lang="en-US" dirty="0"/>
              <a:t>WHERE cost &gt; 15000;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37" r="50000"/>
          <a:stretch/>
        </p:blipFill>
        <p:spPr>
          <a:xfrm>
            <a:off x="6592994" y="4786502"/>
            <a:ext cx="2029108" cy="17501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5326" y="3733800"/>
            <a:ext cx="52872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Displays all bookings where the cost exceeds ₹15,000.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572000"/>
            <a:ext cx="7228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write a query to find the total bookingcost for each tourist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09832" y="494133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tourist_id, SUM(cost) AS total_spent</a:t>
            </a:r>
          </a:p>
          <a:p>
            <a:r>
              <a:rPr lang="en-US" dirty="0"/>
              <a:t>FROM Bookings</a:t>
            </a:r>
          </a:p>
          <a:p>
            <a:r>
              <a:rPr lang="en-US" dirty="0"/>
              <a:t>GROUP BY tourist_id;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536" y="6019800"/>
            <a:ext cx="6135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SUM(cost) adds up all bookings per tourist using GROUP BY.</a:t>
            </a:r>
          </a:p>
        </p:txBody>
      </p:sp>
    </p:spTree>
    <p:extLst>
      <p:ext uri="{BB962C8B-B14F-4D97-AF65-F5344CB8AC3E}">
        <p14:creationId xmlns:p14="http://schemas.microsoft.com/office/powerpoint/2010/main" val="398682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7500">
              <a:schemeClr val="accent5">
                <a:lumMod val="20000"/>
                <a:lumOff val="80000"/>
              </a:schemeClr>
            </a:gs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32" y="33400"/>
            <a:ext cx="90246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5. write query to fetch tourist_id and tourist who have spent more than </a:t>
            </a:r>
            <a:r>
              <a:rPr lang="en-US" b="1" dirty="0" smtClean="0"/>
              <a:t>15000 in total</a:t>
            </a:r>
            <a:r>
              <a:rPr lang="en-US" dirty="0"/>
              <a:t>		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51" r="50426"/>
          <a:stretch/>
        </p:blipFill>
        <p:spPr>
          <a:xfrm>
            <a:off x="6553200" y="663413"/>
            <a:ext cx="2362200" cy="147018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4800" y="45945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tourist_id, SUM(cost) AS total_spent </a:t>
            </a:r>
          </a:p>
          <a:p>
            <a:r>
              <a:rPr lang="en-US" dirty="0"/>
              <a:t>FROM Bookings</a:t>
            </a:r>
          </a:p>
          <a:p>
            <a:r>
              <a:rPr lang="en-US" dirty="0"/>
              <a:t>GROUP BY tourist_id</a:t>
            </a:r>
          </a:p>
          <a:p>
            <a:r>
              <a:rPr lang="en-US" dirty="0"/>
              <a:t>HAVING SUM(cost) &gt; 15000;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214" y="1600200"/>
            <a:ext cx="75078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HAVING is used to filter grouped results (not rows).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1" t="16127" b="9319"/>
          <a:stretch/>
        </p:blipFill>
        <p:spPr>
          <a:xfrm>
            <a:off x="6123181" y="2738085"/>
            <a:ext cx="2934555" cy="18891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545" y="5566034"/>
            <a:ext cx="2381582" cy="12208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2400" y="2368753"/>
            <a:ext cx="807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6.write a query to display tourist_id,touristnames with their destination names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7214" y="2736481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t.name AS tourist_name, t.tourist_id, d.place_name</a:t>
            </a:r>
          </a:p>
          <a:p>
            <a:r>
              <a:rPr lang="en-US" dirty="0"/>
              <a:t>FROM Tourists t</a:t>
            </a:r>
          </a:p>
          <a:p>
            <a:r>
              <a:rPr lang="en-US" dirty="0"/>
              <a:t>JOIN Bookings b ON t.tourist_id = b.tourist_id</a:t>
            </a:r>
          </a:p>
          <a:p>
            <a:r>
              <a:rPr lang="en-US" dirty="0"/>
              <a:t>JOIN Destinations d ON b.destination_id = d.destination_id;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934" y="4478149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Combines three tables to show which tourist visited which destination.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934" y="5132670"/>
            <a:ext cx="77731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7.write a query Fetch all destinations that belong to 'Hill Station' category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47214" y="549420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place_name, location</a:t>
            </a:r>
          </a:p>
          <a:p>
            <a:r>
              <a:rPr lang="en-US" dirty="0"/>
              <a:t>FROM Destinations</a:t>
            </a:r>
          </a:p>
          <a:p>
            <a:r>
              <a:rPr lang="en-US" dirty="0"/>
              <a:t>WHERE category = 'Hill Station';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158" y="6417531"/>
            <a:ext cx="8720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</a:t>
            </a:r>
            <a:r>
              <a:rPr lang="en-US" dirty="0" smtClean="0"/>
              <a:t>:  Filters the destinations by category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259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40000"/>
                <a:lumOff val="60000"/>
              </a:schemeClr>
            </a:gs>
            <a:gs pos="0">
              <a:schemeClr val="bg2">
                <a:lumMod val="7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2" b="14667"/>
          <a:stretch/>
        </p:blipFill>
        <p:spPr>
          <a:xfrm>
            <a:off x="6781800" y="533400"/>
            <a:ext cx="1962424" cy="10861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6" b="7516"/>
          <a:stretch/>
        </p:blipFill>
        <p:spPr>
          <a:xfrm>
            <a:off x="6730718" y="2243022"/>
            <a:ext cx="2429214" cy="18374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063" y="4876800"/>
            <a:ext cx="2133898" cy="18862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" y="76200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8.write a query to find the </a:t>
            </a:r>
            <a:r>
              <a:rPr lang="en-US" b="1" dirty="0" smtClean="0"/>
              <a:t>number </a:t>
            </a:r>
            <a:r>
              <a:rPr lang="en-US" b="1" dirty="0"/>
              <a:t>of tourists from each country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34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country, COUNT(*) AS total_tourists</a:t>
            </a:r>
          </a:p>
          <a:p>
            <a:r>
              <a:rPr lang="en-US" dirty="0"/>
              <a:t>FROM Tourists</a:t>
            </a:r>
          </a:p>
          <a:p>
            <a:r>
              <a:rPr lang="en-US" dirty="0"/>
              <a:t>GROUP BY country;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5673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COUNT(*) counts tourists grouped by country.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1874" y="2140956"/>
            <a:ext cx="85251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9. query to Display destinations and guide names assigned to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50103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d.place_name, g.name AS guide_name</a:t>
            </a:r>
          </a:p>
          <a:p>
            <a:r>
              <a:rPr lang="en-US" dirty="0"/>
              <a:t>FROM Destinations d</a:t>
            </a:r>
          </a:p>
          <a:p>
            <a:r>
              <a:rPr lang="en-US" dirty="0"/>
              <a:t>JOIN Guides g ON d.destination_id = g.destination_id;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3757282"/>
            <a:ext cx="6994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Shows one-to-one relationship between destination and assigned guide.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" y="4507468"/>
            <a:ext cx="74582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10.write a query to Find average booking cost per destination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936" y="493801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destination_id, AVG(cost) AS avg_cost</a:t>
            </a:r>
          </a:p>
          <a:p>
            <a:r>
              <a:rPr lang="en-US" dirty="0"/>
              <a:t>FROM Bookings</a:t>
            </a:r>
          </a:p>
          <a:p>
            <a:r>
              <a:rPr lang="en-US" dirty="0"/>
              <a:t>GROUP BY destination_id;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845233"/>
            <a:ext cx="579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Uses AVG() to calculate mean booking cost per destination.</a:t>
            </a:r>
          </a:p>
        </p:txBody>
      </p:sp>
    </p:spTree>
    <p:extLst>
      <p:ext uri="{BB962C8B-B14F-4D97-AF65-F5344CB8AC3E}">
        <p14:creationId xmlns:p14="http://schemas.microsoft.com/office/powerpoint/2010/main" val="27505445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40000"/>
                <a:lumOff val="60000"/>
              </a:schemeClr>
            </a:gs>
            <a:gs pos="0">
              <a:schemeClr val="accent6">
                <a:lumMod val="40000"/>
                <a:lumOff val="60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762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11.write a query to Display tourist names and booking costs in descending order of cost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438" y="388676"/>
            <a:ext cx="1914792" cy="20291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77" t="8728" r="10677" b="4312"/>
          <a:stretch/>
        </p:blipFill>
        <p:spPr>
          <a:xfrm>
            <a:off x="4615132" y="3104307"/>
            <a:ext cx="4201111" cy="5218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461347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t.name AS tourist_name, b.cost</a:t>
            </a:r>
          </a:p>
          <a:p>
            <a:r>
              <a:rPr lang="en-US" dirty="0"/>
              <a:t>FROM Tourists t</a:t>
            </a:r>
          </a:p>
          <a:p>
            <a:r>
              <a:rPr lang="en-US" dirty="0"/>
              <a:t>JOIN Bookings b ON t.tourist_id = b.tourist_id</a:t>
            </a:r>
          </a:p>
          <a:p>
            <a:r>
              <a:rPr lang="en-US" dirty="0"/>
              <a:t>ORDER BY b.cost DESC;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39178"/>
            <a:ext cx="632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ORDER BY ... DESC arranges results from highest to lowest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599" y="2362200"/>
            <a:ext cx="83859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12.write aquery to Find the most expensive booking made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83809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*</a:t>
            </a:r>
          </a:p>
          <a:p>
            <a:r>
              <a:rPr lang="en-US" dirty="0"/>
              <a:t>FROM Bookings</a:t>
            </a:r>
          </a:p>
          <a:p>
            <a:r>
              <a:rPr lang="en-US" dirty="0"/>
              <a:t>WHERE cost = (SELECT MAX(cost) FROM Bookings);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4038421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Uses a subquery to fetch the maximum cost and compares it.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582" y="5142592"/>
            <a:ext cx="1276528" cy="118200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0165" y="4755379"/>
            <a:ext cx="7246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13. </a:t>
            </a:r>
            <a:r>
              <a:rPr lang="en-US" b="1" dirty="0"/>
              <a:t>Find destinations that have never been booked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829" y="5142593"/>
            <a:ext cx="70077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SELECT place_name</a:t>
            </a:r>
          </a:p>
          <a:p>
            <a:r>
              <a:rPr lang="en-US" dirty="0"/>
              <a:t>FROM Destinations</a:t>
            </a:r>
          </a:p>
          <a:p>
            <a:r>
              <a:rPr lang="en-US" dirty="0"/>
              <a:t>WHERE destination_id NOT IN (SELECT destination_id FROM Bookings);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8829" y="6108253"/>
            <a:ext cx="86551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</a:t>
            </a:r>
            <a:r>
              <a:rPr lang="en-US" dirty="0" smtClean="0"/>
              <a:t>xplanation</a:t>
            </a:r>
            <a:r>
              <a:rPr lang="en-US" dirty="0"/>
              <a:t>:</a:t>
            </a:r>
          </a:p>
          <a:p>
            <a:r>
              <a:rPr lang="en-US" dirty="0"/>
              <a:t>Uses a subquery with NOT IN to find destinations with no bookings.</a:t>
            </a:r>
          </a:p>
        </p:txBody>
      </p:sp>
    </p:spTree>
    <p:extLst>
      <p:ext uri="{BB962C8B-B14F-4D97-AF65-F5344CB8AC3E}">
        <p14:creationId xmlns:p14="http://schemas.microsoft.com/office/powerpoint/2010/main" val="2783309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>
                <a:lumMod val="85000"/>
              </a:schemeClr>
            </a:gs>
            <a:gs pos="35000">
              <a:schemeClr val="accent4">
                <a:lumMod val="60000"/>
                <a:lumOff val="40000"/>
              </a:schemeClr>
            </a:gs>
            <a:gs pos="80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43458"/>
            <a:ext cx="845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14.write </a:t>
            </a:r>
            <a:r>
              <a:rPr lang="en-US" b="1" dirty="0"/>
              <a:t>a query to Show names of tourists who visited ‘Hill Station’ destinations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9835"/>
            <a:ext cx="6477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SELECT DISTINCT t.name</a:t>
            </a:r>
          </a:p>
          <a:p>
            <a:r>
              <a:rPr lang="en-US" dirty="0"/>
              <a:t>FROM Tourists t</a:t>
            </a:r>
          </a:p>
          <a:p>
            <a:r>
              <a:rPr lang="en-US" dirty="0"/>
              <a:t>JOIN Bookings b ON t.tourist_id = b.tourist_id</a:t>
            </a:r>
          </a:p>
          <a:p>
            <a:r>
              <a:rPr lang="en-US" dirty="0"/>
              <a:t>JOIN Destinations d ON b.destination_id = d.destination_id</a:t>
            </a:r>
          </a:p>
          <a:p>
            <a:r>
              <a:rPr lang="en-US" dirty="0"/>
              <a:t>WHERE d.category = 'Hill Station';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762000"/>
            <a:ext cx="1267002" cy="9145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800" y="1871132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DISTINCT ensures each tourist name appears only 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2514409"/>
            <a:ext cx="85085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15.WRITE a query to Find all bookings made in October 2024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814277"/>
            <a:ext cx="3905795" cy="129558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3400" y="283481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* FROM Bookings</a:t>
            </a:r>
          </a:p>
          <a:p>
            <a:r>
              <a:rPr lang="en-US" dirty="0"/>
              <a:t>WHERE MONTH(booking_date) = 10 AND YEAR(booking_date) = 2024;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795" y="3836104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Filters bookings based on month and year from a DATE column.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698" y="4482435"/>
            <a:ext cx="87063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16.write a query to fetch the List of top 3 most expensive bookings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481" y="5010604"/>
            <a:ext cx="3915321" cy="101931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2999" y="482959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*</a:t>
            </a:r>
          </a:p>
          <a:p>
            <a:r>
              <a:rPr lang="en-US" dirty="0"/>
              <a:t>FROM Bookings</a:t>
            </a:r>
          </a:p>
          <a:p>
            <a:r>
              <a:rPr lang="en-US" dirty="0"/>
              <a:t>ORDER BY cost DESC</a:t>
            </a:r>
          </a:p>
          <a:p>
            <a:r>
              <a:rPr lang="en-US" dirty="0"/>
              <a:t>LIMIT 3;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6006" y="5989307"/>
            <a:ext cx="78937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LIMIT 3 restricts to only the top three rows after sorting by cost DESC.</a:t>
            </a:r>
          </a:p>
        </p:txBody>
      </p:sp>
    </p:spTree>
    <p:extLst>
      <p:ext uri="{BB962C8B-B14F-4D97-AF65-F5344CB8AC3E}">
        <p14:creationId xmlns:p14="http://schemas.microsoft.com/office/powerpoint/2010/main" val="1615537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40000"/>
                <a:lumOff val="60000"/>
              </a:schemeClr>
            </a:gs>
            <a:gs pos="6000">
              <a:srgbClr val="92D050"/>
            </a:gs>
            <a:gs pos="80000">
              <a:schemeClr val="accent4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76200"/>
            <a:ext cx="853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17. Show each guide with their destination category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77638"/>
            <a:ext cx="1991003" cy="2019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41902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g.name AS guide_name, d.category</a:t>
            </a:r>
          </a:p>
          <a:p>
            <a:r>
              <a:rPr lang="en-US" dirty="0"/>
              <a:t>FROM Guides g</a:t>
            </a:r>
          </a:p>
          <a:p>
            <a:r>
              <a:rPr lang="en-US" dirty="0"/>
              <a:t>JOIN Destinations d ON g.destination_id = d.destination_id;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1619354"/>
            <a:ext cx="662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Demonstrates a JOIN between Guides and Destinations.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2362200"/>
            <a:ext cx="853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18.write a query to Find the average age of tourists from India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072690"/>
            <a:ext cx="1009791" cy="5048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2000" y="273153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AVG(age) AS avg_age</a:t>
            </a:r>
          </a:p>
          <a:p>
            <a:r>
              <a:rPr lang="en-US" dirty="0"/>
              <a:t>FROM Tourists</a:t>
            </a:r>
          </a:p>
          <a:p>
            <a:r>
              <a:rPr lang="en-US" dirty="0"/>
              <a:t>WHERE country = 'India';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654862"/>
            <a:ext cx="784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Uses AVG() to compute average for filtered rows.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19600"/>
            <a:ext cx="5417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19.Write a query to  </a:t>
            </a:r>
            <a:r>
              <a:rPr lang="en-US" b="1" dirty="0"/>
              <a:t>Show all guides who speak English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5105400"/>
            <a:ext cx="2343477" cy="9812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80051" y="4876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name AS guide_name, destination_id</a:t>
            </a:r>
          </a:p>
          <a:p>
            <a:r>
              <a:rPr lang="en-US" dirty="0"/>
              <a:t>FROM Guides</a:t>
            </a:r>
          </a:p>
          <a:p>
            <a:r>
              <a:rPr lang="en-US" dirty="0"/>
              <a:t>WHERE language = 'English';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764" y="59436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Simple filter with WHERE clause.</a:t>
            </a:r>
          </a:p>
        </p:txBody>
      </p:sp>
    </p:spTree>
    <p:extLst>
      <p:ext uri="{BB962C8B-B14F-4D97-AF65-F5344CB8AC3E}">
        <p14:creationId xmlns:p14="http://schemas.microsoft.com/office/powerpoint/2010/main" val="503702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7030A0"/>
            </a:gs>
            <a:gs pos="6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20. </a:t>
            </a:r>
            <a:r>
              <a:rPr lang="en-US" b="1" dirty="0"/>
              <a:t>Display total bookings and total cost per destination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d.place_name, COUNT(b.booking_id) AS total_bookings, SUM(b.cost) AS total_cost</a:t>
            </a:r>
          </a:p>
          <a:p>
            <a:r>
              <a:rPr lang="en-US" dirty="0"/>
              <a:t>FROM Destinations d</a:t>
            </a:r>
          </a:p>
          <a:p>
            <a:r>
              <a:rPr lang="en-US" dirty="0"/>
              <a:t>JOIN Bookings b ON d.destination_id = b.destination_id</a:t>
            </a:r>
          </a:p>
          <a:p>
            <a:r>
              <a:rPr lang="en-US" dirty="0"/>
              <a:t>GROUP BY d.place_name;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0998" y="2471013"/>
            <a:ext cx="8458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Shows aggregation of bookings and sum of cost per destination.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521732"/>
            <a:ext cx="2934109" cy="20100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2400" y="3200400"/>
            <a:ext cx="807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21. </a:t>
            </a:r>
            <a:r>
              <a:rPr lang="en-US" b="1" dirty="0"/>
              <a:t>Show all tourists and their assigned destination guides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781" y="3692968"/>
            <a:ext cx="2972215" cy="18957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3763675"/>
            <a:ext cx="58947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SELECT t.name AS tourist_name, g.name AS guide_name, d.place_name</a:t>
            </a:r>
          </a:p>
          <a:p>
            <a:r>
              <a:rPr lang="en-US" dirty="0"/>
              <a:t>FROM Bookings b</a:t>
            </a:r>
          </a:p>
          <a:p>
            <a:r>
              <a:rPr lang="en-US" dirty="0"/>
              <a:t>JOIN Tourists t ON b.tourist_id = t.tourist_id</a:t>
            </a:r>
          </a:p>
          <a:p>
            <a:r>
              <a:rPr lang="en-US" dirty="0"/>
              <a:t>JOIN Destinations d ON b.destination_id = d.destination_id</a:t>
            </a:r>
          </a:p>
          <a:p>
            <a:r>
              <a:rPr lang="en-US" dirty="0"/>
              <a:t>JOIN Guides g ON d.destination_id = g.destination_id;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130" y="5791200"/>
            <a:ext cx="75006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Explanation:</a:t>
            </a:r>
          </a:p>
          <a:p>
            <a:r>
              <a:rPr lang="en-US" dirty="0"/>
              <a:t>Joins all 4 tables to connect tourists → destinations → guides.</a:t>
            </a:r>
          </a:p>
        </p:txBody>
      </p:sp>
    </p:spTree>
    <p:extLst>
      <p:ext uri="{BB962C8B-B14F-4D97-AF65-F5344CB8AC3E}">
        <p14:creationId xmlns:p14="http://schemas.microsoft.com/office/powerpoint/2010/main" val="423807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965CB0"/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533400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Conclusion: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990600"/>
            <a:ext cx="7162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This, </a:t>
            </a:r>
            <a:r>
              <a:rPr lang="en-US" dirty="0"/>
              <a:t>Travel and Tourism Management System helped me understand how SQL can be used to store, manage, and analyze real-world data efficiently.</a:t>
            </a:r>
            <a:br>
              <a:rPr lang="en-US" dirty="0"/>
            </a:br>
            <a:r>
              <a:rPr lang="en-US" dirty="0"/>
              <a:t>By creating multiple tables and connecting them through relationships, I learned to use commands like joins, group by, and </a:t>
            </a:r>
            <a:r>
              <a:rPr lang="en-US" dirty="0" err="1"/>
              <a:t>subqueries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project improved my practical knowledge of databases and showed how SQL supports real applications like travel management systems.”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4038600"/>
            <a:ext cx="21162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Thank you..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2490072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</TotalTime>
  <Words>1370</Words>
  <Application>Microsoft Office PowerPoint</Application>
  <PresentationFormat>On-screen Show (4:3)</PresentationFormat>
  <Paragraphs>221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TRAVEL AND TOURISM</vt:lpstr>
      <vt:lpstr> Schema and Tables 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Dharani kumar Balaga</dc:creator>
  <cp:lastModifiedBy>Dharani kumar Balaga</cp:lastModifiedBy>
  <cp:revision>34</cp:revision>
  <dcterms:created xsi:type="dcterms:W3CDTF">2025-10-17T09:09:05Z</dcterms:created>
  <dcterms:modified xsi:type="dcterms:W3CDTF">2025-10-18T04:40:29Z</dcterms:modified>
</cp:coreProperties>
</file>